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4.png"/><Relationship Id="rId3" Type="http://schemas.openxmlformats.org/officeDocument/2006/relationships/image" Target="../media/image1_2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3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8.png"/><Relationship Id="rId3" Type="http://schemas.openxmlformats.org/officeDocument/2006/relationships/image" Target="../media/image4_9.png"/><Relationship Id="rId4" Type="http://schemas.openxmlformats.org/officeDocument/2006/relationships/image" Target="../media/image4_1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2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8.png"/><Relationship Id="rId3" Type="http://schemas.openxmlformats.org/officeDocument/2006/relationships/image" Target="../media/image6_1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8.png"/><Relationship Id="rId3" Type="http://schemas.openxmlformats.org/officeDocument/2006/relationships/image" Target="../media/image7_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CASE STUDY</a:t>
            </a:r>
            <a:endParaRPr sz="1140"/>
          </a:p>
        </p:txBody>
      </p:sp>
      <p:sp>
        <p:nvSpPr>
          <p:cNvPr id="4" name="rect 4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5" name="text 5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6" name="text 6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01 / 08</a:t>
            </a:r>
            <a:endParaRPr sz="1140"/>
          </a:p>
        </p:txBody>
      </p:sp>
      <p:sp>
        <p:nvSpPr>
          <p:cNvPr id="7" name="text 7"/>
          <p:cNvSpPr/>
          <p:nvPr/>
        </p:nvSpPr>
        <p:spPr>
          <a:xfrm>
            <a:off x="495300" y="1158240"/>
            <a:ext cx="7239000" cy="163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506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40">
                <a:solidFill>
                  <a:srgbClr val="282758"/>
                </a:solidFill>
                <a:latin typeface="Microsoft YaHei"/>
                <a:ea typeface="Microsoft YaHei"/>
              </a:rPr>
              <a:t>Learning to Predict</a:t>
            </a:r>
            <a:endParaRPr sz="3840"/>
          </a:p>
          <a:p>
            <a:pPr>
              <a:lnSpc>
                <a:spcPts val="506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40">
                <a:solidFill>
                  <a:srgbClr val="282758"/>
                </a:solidFill>
                <a:latin typeface="Microsoft YaHei"/>
                <a:ea typeface="Microsoft YaHei"/>
              </a:rPr>
              <a:t>Boolean Satisfiability</a:t>
            </a:r>
            <a:endParaRPr sz="3840"/>
          </a:p>
        </p:txBody>
      </p:sp>
      <p:sp>
        <p:nvSpPr>
          <p:cNvPr id="8" name="text 8"/>
          <p:cNvSpPr/>
          <p:nvPr/>
        </p:nvSpPr>
        <p:spPr>
          <a:xfrm>
            <a:off x="495300" y="306324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>
                <a:solidFill>
                  <a:srgbClr val="20233D"/>
                </a:solidFill>
                <a:latin typeface="Microsoft YaHei"/>
                <a:ea typeface="Microsoft YaHei"/>
              </a:rPr>
              <a:t>A QRefactorBench-Inspired</a:t>
            </a:r>
            <a:endParaRPr sz="2400"/>
          </a:p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>
                <a:solidFill>
                  <a:srgbClr val="20233D"/>
                </a:solidFill>
                <a:latin typeface="Microsoft YaHei"/>
                <a:ea typeface="Microsoft YaHei"/>
              </a:rPr>
              <a:t>Neural Network Case Study</a:t>
            </a:r>
            <a:endParaRPr sz="2400"/>
          </a:p>
        </p:txBody>
      </p:sp>
      <p:sp>
        <p:nvSpPr>
          <p:cNvPr id="9" name="text 9"/>
          <p:cNvSpPr/>
          <p:nvPr/>
        </p:nvSpPr>
        <p:spPr>
          <a:xfrm>
            <a:off x="495300" y="4305300"/>
            <a:ext cx="6858000" cy="876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>
                <a:solidFill>
                  <a:srgbClr val="566176"/>
                </a:solidFill>
                <a:latin typeface="Microsoft YaHei"/>
                <a:ea typeface="Microsoft YaHei"/>
              </a:rPr>
              <a:t>Generate → inspect → clean → train → evaluate</a:t>
            </a:r>
            <a:endParaRPr sz="1680"/>
          </a:p>
          <a:p>
            <a:pPr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>
                <a:solidFill>
                  <a:srgbClr val="566176"/>
                </a:solidFill>
                <a:latin typeface="Microsoft YaHei"/>
                <a:ea typeface="Microsoft YaHei"/>
              </a:rPr>
              <a:t>An auditable workflow for CA6000</a:t>
            </a:r>
            <a:endParaRPr sz="1680"/>
          </a:p>
        </p:txBody>
      </p:sp>
      <p:sp>
        <p:nvSpPr>
          <p:cNvPr id="10" name="text 10"/>
          <p:cNvSpPr/>
          <p:nvPr/>
        </p:nvSpPr>
        <p:spPr>
          <a:xfrm>
            <a:off x="495300" y="56769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>
                <a:solidFill>
                  <a:srgbClr val="20233D"/>
                </a:solidFill>
                <a:latin typeface="Microsoft YaHei"/>
                <a:ea typeface="Microsoft YaHei"/>
              </a:rPr>
              <a:t>Name / Student ID / Partner: complete before submission</a:t>
            </a:r>
            <a:endParaRPr sz="1380"/>
          </a:p>
        </p:txBody>
      </p:sp>
      <p:sp>
        <p:nvSpPr>
          <p:cNvPr id="11" name="rect 11"/>
          <p:cNvSpPr/>
          <p:nvPr/>
        </p:nvSpPr>
        <p:spPr>
          <a:xfrm>
            <a:off x="8001000" y="1600200"/>
            <a:ext cx="3695700" cy="13335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8001000" y="1600200"/>
            <a:ext cx="38100" cy="13335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8183880" y="1767840"/>
            <a:ext cx="33299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3,000 instances</a:t>
            </a:r>
            <a:endParaRPr sz="1980"/>
          </a:p>
        </p:txBody>
      </p:sp>
      <p:sp>
        <p:nvSpPr>
          <p:cNvPr id="14" name="text 14"/>
          <p:cNvSpPr/>
          <p:nvPr/>
        </p:nvSpPr>
        <p:spPr>
          <a:xfrm>
            <a:off x="8183880" y="2316480"/>
            <a:ext cx="3329940" cy="525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30 features; exact SAT labels.</a:t>
            </a:r>
            <a:endParaRPr sz="1620"/>
          </a:p>
        </p:txBody>
      </p:sp>
      <p:sp>
        <p:nvSpPr>
          <p:cNvPr id="15" name="rect 15"/>
          <p:cNvSpPr/>
          <p:nvPr/>
        </p:nvSpPr>
        <p:spPr>
          <a:xfrm>
            <a:off x="8001000" y="3238500"/>
            <a:ext cx="3695700" cy="13335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6" name="rect 16"/>
          <p:cNvSpPr/>
          <p:nvPr/>
        </p:nvSpPr>
        <p:spPr>
          <a:xfrm>
            <a:off x="8001000" y="3238500"/>
            <a:ext cx="38100" cy="13335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7" name="text 17"/>
          <p:cNvSpPr/>
          <p:nvPr/>
        </p:nvSpPr>
        <p:spPr>
          <a:xfrm>
            <a:off x="8183880" y="3406140"/>
            <a:ext cx="33299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A real trained MLP</a:t>
            </a:r>
            <a:endParaRPr sz="1980"/>
          </a:p>
        </p:txBody>
      </p:sp>
      <p:sp>
        <p:nvSpPr>
          <p:cNvPr id="18" name="text 18"/>
          <p:cNvSpPr/>
          <p:nvPr/>
        </p:nvSpPr>
        <p:spPr>
          <a:xfrm>
            <a:off x="8183880" y="3954780"/>
            <a:ext cx="3329940" cy="525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PyTorch weights and history.</a:t>
            </a:r>
            <a:endParaRPr sz="1620"/>
          </a:p>
        </p:txBody>
      </p:sp>
      <p:sp>
        <p:nvSpPr>
          <p:cNvPr id="19" name="rect 19"/>
          <p:cNvSpPr/>
          <p:nvPr/>
        </p:nvSpPr>
        <p:spPr>
          <a:xfrm>
            <a:off x="8001000" y="4876800"/>
            <a:ext cx="3695700" cy="11811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20" name="rect 20"/>
          <p:cNvSpPr/>
          <p:nvPr/>
        </p:nvSpPr>
        <p:spPr>
          <a:xfrm>
            <a:off x="8001000" y="4876800"/>
            <a:ext cx="38100" cy="1181100"/>
          </a:xfrm>
          <a:prstGeom prst="rect">
            <a:avLst/>
          </a:prstGeom>
          <a:solidFill>
            <a:srgbClr val="9B2444"/>
          </a:solidFill>
          <a:ln>
            <a:noFill/>
          </a:ln>
        </p:spPr>
      </p:sp>
      <p:sp>
        <p:nvSpPr>
          <p:cNvPr id="21" name="text 21"/>
          <p:cNvSpPr/>
          <p:nvPr/>
        </p:nvSpPr>
        <p:spPr>
          <a:xfrm>
            <a:off x="8183880" y="5044440"/>
            <a:ext cx="33299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9B2444"/>
                </a:solidFill>
                <a:latin typeface="Microsoft YaHei"/>
                <a:ea typeface="Microsoft YaHei"/>
              </a:rPr>
              <a:t>Reproducible code</a:t>
            </a:r>
            <a:endParaRPr sz="1980"/>
          </a:p>
        </p:txBody>
      </p:sp>
      <p:sp>
        <p:nvSpPr>
          <p:cNvPr id="22" name="text 22"/>
          <p:cNvSpPr/>
          <p:nvPr/>
        </p:nvSpPr>
        <p:spPr>
          <a:xfrm>
            <a:off x="8183880" y="5593080"/>
            <a:ext cx="3329940" cy="3733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No API key or QPU required.</a:t>
            </a:r>
            <a:endParaRPr sz="1620"/>
          </a:p>
        </p:txBody>
      </p:sp>
      <p:sp>
        <p:nvSpPr>
          <p:cNvPr id="23" name="rect 23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24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  <p:sp>
        <p:nvSpPr>
          <p:cNvPr id="25" name="rect 25"/>
          <p:cNvSpPr/>
          <p:nvPr/>
        </p:nvSpPr>
        <p:spPr>
          <a:xfrm>
            <a:off x="8953500" y="266700"/>
            <a:ext cx="2743200" cy="10287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26" name="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259080"/>
            <a:ext cx="2438400" cy="103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DATA SOURCE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From a research case to a dataset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02 / 08</a:t>
            </a:r>
            <a:endParaRPr sz="1140"/>
          </a:p>
        </p:txBody>
      </p:sp>
      <p:sp>
        <p:nvSpPr>
          <p:cNvPr id="8" name="rect 8"/>
          <p:cNvSpPr/>
          <p:nvPr/>
        </p:nvSpPr>
        <p:spPr>
          <a:xfrm>
            <a:off x="495300" y="1562100"/>
            <a:ext cx="5486400" cy="28956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95300" y="1562100"/>
            <a:ext cx="38100" cy="28956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678180" y="1729740"/>
            <a:ext cx="51206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Existing classical program</a:t>
            </a:r>
            <a:endParaRPr sz="1980"/>
          </a:p>
        </p:txBody>
      </p:sp>
      <p:sp>
        <p:nvSpPr>
          <p:cNvPr id="11" name="text 11"/>
          <p:cNvSpPr/>
          <p:nvPr/>
        </p:nvSpPr>
        <p:spPr>
          <a:xfrm>
            <a:off x="678180" y="2278380"/>
            <a:ext cx="5120640" cy="2087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pilot-001: enumerate assignments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and return whether all clauses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can be satisfied.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/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Labels come from exhaustive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evaluation of the original code.</a:t>
            </a:r>
            <a:endParaRPr sz="1620"/>
          </a:p>
        </p:txBody>
      </p:sp>
      <p:sp>
        <p:nvSpPr>
          <p:cNvPr id="12" name="rect 12"/>
          <p:cNvSpPr/>
          <p:nvPr/>
        </p:nvSpPr>
        <p:spPr>
          <a:xfrm>
            <a:off x="6210300" y="1562100"/>
            <a:ext cx="5486400" cy="28956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6210300" y="1562100"/>
            <a:ext cx="38100" cy="28956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6393180" y="1729740"/>
            <a:ext cx="51206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Independent input instances</a:t>
            </a:r>
            <a:endParaRPr sz="1980"/>
          </a:p>
        </p:txBody>
      </p:sp>
      <p:sp>
        <p:nvSpPr>
          <p:cNvPr id="15" name="text 15"/>
          <p:cNvSpPr/>
          <p:nvPr/>
        </p:nvSpPr>
        <p:spPr>
          <a:xfrm>
            <a:off x="6393180" y="2278380"/>
            <a:ext cx="5120640" cy="2087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4–5 variables; 2-CNF, 3-CNF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and mixed formulas.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Random clauses, no planted labels.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/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3,000 accepted canonical groups;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1,677 UNSAT / 1,323 SAT.</a:t>
            </a:r>
            <a:endParaRPr sz="1620"/>
          </a:p>
        </p:txBody>
      </p:sp>
      <p:sp>
        <p:nvSpPr>
          <p:cNvPr id="16" name="text 16"/>
          <p:cNvSpPr/>
          <p:nvPr/>
        </p:nvSpPr>
        <p:spPr>
          <a:xfrm>
            <a:off x="495300" y="4800600"/>
            <a:ext cx="11201400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4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>
                <a:solidFill>
                  <a:srgbClr val="282758"/>
                </a:solidFill>
                <a:latin typeface="Microsoft YaHei"/>
                <a:ea typeface="Microsoft YaHei"/>
              </a:rPr>
              <a:t>Remove duplicates under literal/clause order and all variable renamings.</a:t>
            </a:r>
            <a:endParaRPr sz="1860"/>
          </a:p>
          <a:p>
            <a:pPr>
              <a:lnSpc>
                <a:spcPts val="24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>
                <a:solidFill>
                  <a:srgbClr val="282758"/>
                </a:solidFill>
                <a:latin typeface="Microsoft YaHei"/>
                <a:ea typeface="Microsoft YaHei"/>
              </a:rPr>
              <a:t>Save the generator seed, source hash, formulas and labels.</a:t>
            </a:r>
            <a:endParaRPr sz="1860"/>
          </a:p>
        </p:txBody>
      </p:sp>
      <p:sp>
        <p:nvSpPr>
          <p:cNvPr id="17" name="text 17"/>
          <p:cNvSpPr/>
          <p:nvPr/>
        </p:nvSpPr>
        <p:spPr>
          <a:xfrm>
            <a:off x="495300" y="581406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566176"/>
                </a:solidFill>
                <a:latin typeface="Microsoft YaHei"/>
                <a:ea typeface="Microsoft YaHei"/>
              </a:rPr>
              <a:t>Coursework data are separate from DRAFT benchmark cases and quantum-suitability labels.</a:t>
            </a:r>
            <a:endParaRPr sz="1500"/>
          </a:p>
        </p:txBody>
      </p:sp>
      <p:sp>
        <p:nvSpPr>
          <p:cNvPr id="18" name="rect 18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19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CLEANING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Make data quality visible and reproducible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03 / 08</a:t>
            </a:r>
            <a:endParaRPr sz="1140"/>
          </a:p>
        </p:txBody>
      </p:sp>
      <p:sp>
        <p:nvSpPr>
          <p:cNvPr id="8" name="rect 8"/>
          <p:cNvSpPr/>
          <p:nvPr/>
        </p:nvSpPr>
        <p:spPr>
          <a:xfrm>
            <a:off x="495300" y="1562100"/>
            <a:ext cx="11201400" cy="662940"/>
          </a:xfrm>
          <a:prstGeom prst="rect">
            <a:avLst/>
          </a:prstGeom>
          <a:solidFill>
            <a:srgbClr val="E5E9F2"/>
          </a:solidFill>
          <a:ln>
            <a:noFill/>
          </a:ln>
        </p:spPr>
      </p:sp>
      <p:sp>
        <p:nvSpPr>
          <p:cNvPr id="9" name="text 9"/>
          <p:cNvSpPr/>
          <p:nvPr/>
        </p:nvSpPr>
        <p:spPr>
          <a:xfrm>
            <a:off x="662940" y="176022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282758"/>
                </a:solidFill>
                <a:latin typeface="Microsoft YaHei"/>
                <a:ea typeface="Microsoft YaHei"/>
              </a:rPr>
              <a:t>Issue in training copy</a:t>
            </a:r>
            <a:endParaRPr sz="1500"/>
          </a:p>
        </p:txBody>
      </p:sp>
      <p:sp>
        <p:nvSpPr>
          <p:cNvPr id="10" name="text 10"/>
          <p:cNvSpPr/>
          <p:nvPr/>
        </p:nvSpPr>
        <p:spPr>
          <a:xfrm>
            <a:off x="5311140" y="176022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Detected</a:t>
            </a:r>
            <a:endParaRPr sz="1440"/>
          </a:p>
        </p:txBody>
      </p:sp>
      <p:sp>
        <p:nvSpPr>
          <p:cNvPr id="11" name="text 11"/>
          <p:cNvSpPr/>
          <p:nvPr/>
        </p:nvSpPr>
        <p:spPr>
          <a:xfrm>
            <a:off x="7543800" y="176022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Pandas repair</a:t>
            </a:r>
            <a:endParaRPr sz="1440"/>
          </a:p>
        </p:txBody>
      </p:sp>
      <p:sp>
        <p:nvSpPr>
          <p:cNvPr id="12" name="rect 12"/>
          <p:cNvSpPr/>
          <p:nvPr/>
        </p:nvSpPr>
        <p:spPr>
          <a:xfrm>
            <a:off x="495300" y="2286000"/>
            <a:ext cx="11201400" cy="66294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662940" y="248412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20233D"/>
                </a:solidFill>
                <a:latin typeface="Microsoft YaHei"/>
                <a:ea typeface="Microsoft YaHei"/>
              </a:rPr>
              <a:t>Missing feature cells</a:t>
            </a:r>
            <a:endParaRPr sz="1500"/>
          </a:p>
        </p:txBody>
      </p:sp>
      <p:sp>
        <p:nvSpPr>
          <p:cNvPr id="14" name="text 14"/>
          <p:cNvSpPr/>
          <p:nvPr/>
        </p:nvSpPr>
        <p:spPr>
          <a:xfrm>
            <a:off x="5311140" y="248412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8</a:t>
            </a:r>
            <a:endParaRPr sz="1440"/>
          </a:p>
        </p:txBody>
      </p:sp>
      <p:sp>
        <p:nvSpPr>
          <p:cNvPr id="15" name="text 15"/>
          <p:cNvSpPr/>
          <p:nvPr/>
        </p:nvSpPr>
        <p:spPr>
          <a:xfrm>
            <a:off x="7543800" y="248412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Training-median imputation</a:t>
            </a:r>
            <a:endParaRPr sz="1440"/>
          </a:p>
        </p:txBody>
      </p:sp>
      <p:sp>
        <p:nvSpPr>
          <p:cNvPr id="16" name="rect 16"/>
          <p:cNvSpPr/>
          <p:nvPr/>
        </p:nvSpPr>
        <p:spPr>
          <a:xfrm>
            <a:off x="495300" y="3009900"/>
            <a:ext cx="11201400" cy="66294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7" name="text 17"/>
          <p:cNvSpPr/>
          <p:nvPr/>
        </p:nvSpPr>
        <p:spPr>
          <a:xfrm>
            <a:off x="662940" y="320802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20233D"/>
                </a:solidFill>
                <a:latin typeface="Microsoft YaHei"/>
                <a:ea typeface="Microsoft YaHei"/>
              </a:rPr>
              <a:t>Text / infinity / negative counts</a:t>
            </a:r>
            <a:endParaRPr sz="1500"/>
          </a:p>
        </p:txBody>
      </p:sp>
      <p:sp>
        <p:nvSpPr>
          <p:cNvPr id="18" name="text 18"/>
          <p:cNvSpPr/>
          <p:nvPr/>
        </p:nvSpPr>
        <p:spPr>
          <a:xfrm>
            <a:off x="5311140" y="320802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3 / 1 / 2</a:t>
            </a:r>
            <a:endParaRPr sz="1440"/>
          </a:p>
        </p:txBody>
      </p:sp>
      <p:sp>
        <p:nvSpPr>
          <p:cNvPr id="19" name="text 19"/>
          <p:cNvSpPr/>
          <p:nvPr/>
        </p:nvSpPr>
        <p:spPr>
          <a:xfrm>
            <a:off x="7543800" y="320802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to_numeric + replace + mask</a:t>
            </a:r>
            <a:endParaRPr sz="1440"/>
          </a:p>
        </p:txBody>
      </p:sp>
      <p:sp>
        <p:nvSpPr>
          <p:cNvPr id="20" name="rect 20"/>
          <p:cNvSpPr/>
          <p:nvPr/>
        </p:nvSpPr>
        <p:spPr>
          <a:xfrm>
            <a:off x="495300" y="3733800"/>
            <a:ext cx="11201400" cy="66294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21" name="text 21"/>
          <p:cNvSpPr/>
          <p:nvPr/>
        </p:nvSpPr>
        <p:spPr>
          <a:xfrm>
            <a:off x="662940" y="393192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20233D"/>
                </a:solidFill>
                <a:latin typeface="Microsoft YaHei"/>
                <a:ea typeface="Microsoft YaHei"/>
              </a:rPr>
              <a:t>Duplicates / invalid label</a:t>
            </a:r>
            <a:endParaRPr sz="1500"/>
          </a:p>
        </p:txBody>
      </p:sp>
      <p:sp>
        <p:nvSpPr>
          <p:cNvPr id="22" name="text 22"/>
          <p:cNvSpPr/>
          <p:nvPr/>
        </p:nvSpPr>
        <p:spPr>
          <a:xfrm>
            <a:off x="5311140" y="393192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4 / 1 rows</a:t>
            </a:r>
            <a:endParaRPr sz="1440"/>
          </a:p>
        </p:txBody>
      </p:sp>
      <p:sp>
        <p:nvSpPr>
          <p:cNvPr id="23" name="text 23"/>
          <p:cNvSpPr/>
          <p:nvPr/>
        </p:nvSpPr>
        <p:spPr>
          <a:xfrm>
            <a:off x="7543800" y="393192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drop_duplicates + label filter</a:t>
            </a:r>
            <a:endParaRPr sz="1440"/>
          </a:p>
        </p:txBody>
      </p:sp>
      <p:sp>
        <p:nvSpPr>
          <p:cNvPr id="24" name="rect 24"/>
          <p:cNvSpPr/>
          <p:nvPr/>
        </p:nvSpPr>
        <p:spPr>
          <a:xfrm>
            <a:off x="495300" y="4457700"/>
            <a:ext cx="11201400" cy="66294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25" name="text 25"/>
          <p:cNvSpPr/>
          <p:nvPr/>
        </p:nvSpPr>
        <p:spPr>
          <a:xfrm>
            <a:off x="662940" y="465582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20233D"/>
                </a:solidFill>
                <a:latin typeface="Microsoft YaHei"/>
                <a:ea typeface="Microsoft YaHei"/>
              </a:rPr>
              <a:t>Impossible literal total</a:t>
            </a:r>
            <a:endParaRPr sz="1500"/>
          </a:p>
        </p:txBody>
      </p:sp>
      <p:sp>
        <p:nvSpPr>
          <p:cNvPr id="26" name="text 26"/>
          <p:cNvSpPr/>
          <p:nvPr/>
        </p:nvSpPr>
        <p:spPr>
          <a:xfrm>
            <a:off x="5311140" y="465582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1: 100,000,000</a:t>
            </a:r>
            <a:endParaRPr sz="1440"/>
          </a:p>
        </p:txBody>
      </p:sp>
      <p:sp>
        <p:nvSpPr>
          <p:cNvPr id="27" name="text 27"/>
          <p:cNvSpPr/>
          <p:nvPr/>
        </p:nvSpPr>
        <p:spPr>
          <a:xfrm>
            <a:off x="7543800" y="465582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>
                <a:solidFill>
                  <a:srgbClr val="20233D"/>
                </a:solidFill>
                <a:latin typeface="Microsoft YaHei"/>
                <a:ea typeface="Microsoft YaHei"/>
              </a:rPr>
              <a:t>Domain check → NaN → impute</a:t>
            </a:r>
            <a:endParaRPr sz="1440"/>
          </a:p>
        </p:txBody>
      </p:sp>
      <p:sp>
        <p:nvSpPr>
          <p:cNvPr id="28" name="text 28"/>
          <p:cNvSpPr/>
          <p:nvPr/>
        </p:nvSpPr>
        <p:spPr>
          <a:xfrm>
            <a:off x="495300" y="5478780"/>
            <a:ext cx="11201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>
                <a:solidFill>
                  <a:srgbClr val="9B2444"/>
                </a:solidFill>
                <a:latin typeface="Microsoft YaHei"/>
                <a:ea typeface="Microsoft YaHei"/>
              </a:rPr>
              <a:t>Errors are intentionally injected only into the training copy.</a:t>
            </a:r>
            <a:endParaRPr sz="1680"/>
          </a:p>
          <a:p>
            <a:pPr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>
                <a:solidFill>
                  <a:srgbClr val="9B2444"/>
                </a:solidFill>
                <a:latin typeface="Microsoft YaHei"/>
                <a:ea typeface="Microsoft YaHei"/>
              </a:rPr>
              <a:t>1,799 clean rows; 15 imputed cells. Raw, validation and test records stay intact.</a:t>
            </a:r>
            <a:endParaRPr sz="1680"/>
          </a:p>
        </p:txBody>
      </p:sp>
      <p:sp>
        <p:nvSpPr>
          <p:cNvPr id="29" name="rect 29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30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DATA ANALYSIS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Explore class balance and formula structure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04 / 08</a:t>
            </a:r>
            <a:endParaRPr sz="1140"/>
          </a:p>
        </p:txBody>
      </p:sp>
      <p:pic>
        <p:nvPicPr>
          <p:cNvPr id="8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546860"/>
            <a:ext cx="5486400" cy="3200400"/>
          </a:xfrm>
          <a:prstGeom prst="rect">
            <a:avLst/>
          </a:prstGeom>
        </p:spPr>
      </p:pic>
      <p:pic>
        <p:nvPicPr>
          <p:cNvPr id="9" name="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546860"/>
            <a:ext cx="5486400" cy="3200400"/>
          </a:xfrm>
          <a:prstGeom prst="rect">
            <a:avLst/>
          </a:prstGeom>
        </p:spPr>
      </p:pic>
      <p:sp>
        <p:nvSpPr>
          <p:cNvPr id="10" name="text 10"/>
          <p:cNvSpPr/>
          <p:nvPr/>
        </p:nvSpPr>
        <p:spPr>
          <a:xfrm>
            <a:off x="495300" y="4953000"/>
            <a:ext cx="11201400" cy="3276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>
                <a:solidFill>
                  <a:srgbClr val="282758"/>
                </a:solidFill>
                <a:latin typeface="Microsoft YaHei"/>
                <a:ea typeface="Microsoft YaHei"/>
              </a:rPr>
              <a:t>Cleaned training statistics (all 30 features are available in CSV)</a:t>
            </a:r>
            <a:endParaRPr sz="1680"/>
          </a:p>
        </p:txBody>
      </p:sp>
      <p:sp>
        <p:nvSpPr>
          <p:cNvPr id="11" name="text 11"/>
          <p:cNvSpPr/>
          <p:nvPr/>
        </p:nvSpPr>
        <p:spPr>
          <a:xfrm>
            <a:off x="495300" y="5387340"/>
            <a:ext cx="11201400" cy="289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>
                <a:solidFill>
                  <a:srgbClr val="20233D"/>
                </a:solidFill>
                <a:latin typeface="Consolas"/>
                <a:ea typeface="Microsoft YaHei"/>
              </a:rPr>
              <a:t>n_clauses                mean=17.718   median=18.000   variance=70.820</a:t>
            </a:r>
            <a:endParaRPr sz="1380"/>
          </a:p>
        </p:txBody>
      </p:sp>
      <p:sp>
        <p:nvSpPr>
          <p:cNvPr id="12" name="text 12"/>
          <p:cNvSpPr/>
          <p:nvPr/>
        </p:nvSpPr>
        <p:spPr>
          <a:xfrm>
            <a:off x="495300" y="5684520"/>
            <a:ext cx="11201400" cy="289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>
                <a:solidFill>
                  <a:srgbClr val="20233D"/>
                </a:solidFill>
                <a:latin typeface="Consolas"/>
                <a:ea typeface="Microsoft YaHei"/>
              </a:rPr>
              <a:t>clause_variable_ratio    mean=3.902   median=4.000   variance=3.089</a:t>
            </a:r>
            <a:endParaRPr sz="1380"/>
          </a:p>
        </p:txBody>
      </p:sp>
      <p:sp>
        <p:nvSpPr>
          <p:cNvPr id="13" name="text 13"/>
          <p:cNvSpPr/>
          <p:nvPr/>
        </p:nvSpPr>
        <p:spPr>
          <a:xfrm>
            <a:off x="495300" y="5981700"/>
            <a:ext cx="11201400" cy="289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>
                <a:solidFill>
                  <a:srgbClr val="20233D"/>
                </a:solidFill>
                <a:latin typeface="Consolas"/>
                <a:ea typeface="Microsoft YaHei"/>
              </a:rPr>
              <a:t>total_literals           mean=45.540   median=42.000   variance=555.293</a:t>
            </a:r>
            <a:endParaRPr sz="1380"/>
          </a:p>
        </p:txBody>
      </p:sp>
      <p:sp>
        <p:nvSpPr>
          <p:cNvPr id="14" name="rect 14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15" name="Demo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MODEL &amp; PROTOCOL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Learn from training data; reserve the test set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05 / 08</a:t>
            </a:r>
            <a:endParaRPr sz="1140"/>
          </a:p>
        </p:txBody>
      </p:sp>
      <p:sp>
        <p:nvSpPr>
          <p:cNvPr id="8" name="rect 8"/>
          <p:cNvSpPr/>
          <p:nvPr/>
        </p:nvSpPr>
        <p:spPr>
          <a:xfrm>
            <a:off x="495300" y="1562100"/>
            <a:ext cx="3657600" cy="169926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95300" y="1562100"/>
            <a:ext cx="38100" cy="169926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678180" y="1729740"/>
            <a:ext cx="32918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Train: 1,799</a:t>
            </a:r>
            <a:endParaRPr sz="1980"/>
          </a:p>
        </p:txBody>
      </p:sp>
      <p:sp>
        <p:nvSpPr>
          <p:cNvPr id="11" name="text 11"/>
          <p:cNvSpPr/>
          <p:nvPr/>
        </p:nvSpPr>
        <p:spPr>
          <a:xfrm>
            <a:off x="678180" y="2278380"/>
            <a:ext cx="3291840" cy="891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Fit medians, means and scales.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Learn network parameters.</a:t>
            </a:r>
            <a:endParaRPr sz="1620"/>
          </a:p>
        </p:txBody>
      </p:sp>
      <p:sp>
        <p:nvSpPr>
          <p:cNvPr id="12" name="rect 12"/>
          <p:cNvSpPr/>
          <p:nvPr/>
        </p:nvSpPr>
        <p:spPr>
          <a:xfrm>
            <a:off x="4267200" y="1562100"/>
            <a:ext cx="3657600" cy="169926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4267200" y="1562100"/>
            <a:ext cx="38100" cy="169926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4450080" y="1729740"/>
            <a:ext cx="32918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Validation: 600</a:t>
            </a:r>
            <a:endParaRPr sz="1980"/>
          </a:p>
        </p:txBody>
      </p:sp>
      <p:sp>
        <p:nvSpPr>
          <p:cNvPr id="15" name="text 15"/>
          <p:cNvSpPr/>
          <p:nvPr/>
        </p:nvSpPr>
        <p:spPr>
          <a:xfrm>
            <a:off x="4450080" y="2278380"/>
            <a:ext cx="3291840" cy="891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Select the checkpoint using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validation BCE loss only.</a:t>
            </a:r>
            <a:endParaRPr sz="1620"/>
          </a:p>
        </p:txBody>
      </p:sp>
      <p:sp>
        <p:nvSpPr>
          <p:cNvPr id="16" name="rect 16"/>
          <p:cNvSpPr/>
          <p:nvPr/>
        </p:nvSpPr>
        <p:spPr>
          <a:xfrm>
            <a:off x="8039100" y="1562100"/>
            <a:ext cx="3657600" cy="169926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7" name="rect 17"/>
          <p:cNvSpPr/>
          <p:nvPr/>
        </p:nvSpPr>
        <p:spPr>
          <a:xfrm>
            <a:off x="8039100" y="1562100"/>
            <a:ext cx="38100" cy="169926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8" name="text 18"/>
          <p:cNvSpPr/>
          <p:nvPr/>
        </p:nvSpPr>
        <p:spPr>
          <a:xfrm>
            <a:off x="8221980" y="1729740"/>
            <a:ext cx="32918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Test: 601</a:t>
            </a:r>
            <a:endParaRPr sz="1980"/>
          </a:p>
        </p:txBody>
      </p:sp>
      <p:sp>
        <p:nvSpPr>
          <p:cNvPr id="19" name="text 19"/>
          <p:cNvSpPr/>
          <p:nvPr/>
        </p:nvSpPr>
        <p:spPr>
          <a:xfrm>
            <a:off x="8221980" y="2278380"/>
            <a:ext cx="3291840" cy="891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Evaluate after both models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and threshold are fixed.</a:t>
            </a:r>
            <a:endParaRPr sz="1620"/>
          </a:p>
        </p:txBody>
      </p:sp>
      <p:sp>
        <p:nvSpPr>
          <p:cNvPr id="20" name="text 20"/>
          <p:cNvSpPr/>
          <p:nvPr/>
        </p:nvSpPr>
        <p:spPr>
          <a:xfrm>
            <a:off x="495300" y="3680460"/>
            <a:ext cx="11201400" cy="510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34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80">
                <a:solidFill>
                  <a:srgbClr val="282758"/>
                </a:solidFill>
                <a:latin typeface="Microsoft YaHei"/>
                <a:ea typeface="Microsoft YaHei"/>
              </a:rPr>
              <a:t>MLP: 30 → 64 ReLU → 32 ReLU → 1 logit</a:t>
            </a:r>
            <a:endParaRPr sz="2580"/>
          </a:p>
        </p:txBody>
      </p:sp>
      <p:sp>
        <p:nvSpPr>
          <p:cNvPr id="21" name="text 21"/>
          <p:cNvSpPr/>
          <p:nvPr/>
        </p:nvSpPr>
        <p:spPr>
          <a:xfrm>
            <a:off x="495300" y="4366260"/>
            <a:ext cx="11201400" cy="8153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>
                <a:solidFill>
                  <a:srgbClr val="20233D"/>
                </a:solidFill>
                <a:latin typeface="Microsoft YaHei"/>
                <a:ea typeface="Microsoft YaHei"/>
              </a:rPr>
              <a:t>4,097 parameters · BCEWithLogitsLoss · Adam · sigmoid threshold = 0.5</a:t>
            </a:r>
            <a:endParaRPr sz="1740"/>
          </a:p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>
                <a:solidFill>
                  <a:srgbClr val="20233D"/>
                </a:solidFill>
                <a:latin typeface="Microsoft YaHei"/>
                <a:ea typeface="Microsoft YaHei"/>
              </a:rPr>
              <a:t>Compare with majority class and a separately trained linear classifier.</a:t>
            </a:r>
            <a:endParaRPr sz="1740"/>
          </a:p>
        </p:txBody>
      </p:sp>
      <p:sp>
        <p:nvSpPr>
          <p:cNvPr id="22" name="text 22"/>
          <p:cNvSpPr/>
          <p:nvPr/>
        </p:nvSpPr>
        <p:spPr>
          <a:xfrm>
            <a:off x="495300" y="5516880"/>
            <a:ext cx="11201400" cy="678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566176"/>
                </a:solidFill>
                <a:latin typeface="Microsoft YaHei"/>
                <a:ea typeface="Microsoft YaHei"/>
              </a:rPr>
              <a:t>Features use formula statistics only — no solver output, labels or runtime.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566176"/>
                </a:solidFill>
                <a:latin typeface="Microsoft YaHei"/>
                <a:ea typeface="Microsoft YaHei"/>
              </a:rPr>
              <a:t>Canonical groups are disjoint; ID and formula hash are never model inputs.</a:t>
            </a:r>
            <a:endParaRPr sz="1620"/>
          </a:p>
        </p:txBody>
      </p:sp>
      <p:sp>
        <p:nvSpPr>
          <p:cNvPr id="23" name="rect 23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24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TRAINING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The network was actually trained locally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06 / 08</a:t>
            </a:r>
            <a:endParaRPr sz="1140"/>
          </a:p>
        </p:txBody>
      </p:sp>
      <p:pic>
        <p:nvPicPr>
          <p:cNvPr id="8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630680"/>
            <a:ext cx="7353300" cy="4076700"/>
          </a:xfrm>
          <a:prstGeom prst="rect">
            <a:avLst/>
          </a:prstGeom>
        </p:spPr>
      </p:pic>
      <p:sp>
        <p:nvSpPr>
          <p:cNvPr id="9" name="rect 9"/>
          <p:cNvSpPr/>
          <p:nvPr/>
        </p:nvSpPr>
        <p:spPr>
          <a:xfrm>
            <a:off x="8077200" y="1630680"/>
            <a:ext cx="3619500" cy="19050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0" name="rect 10"/>
          <p:cNvSpPr/>
          <p:nvPr/>
        </p:nvSpPr>
        <p:spPr>
          <a:xfrm>
            <a:off x="8077200" y="1630680"/>
            <a:ext cx="38100" cy="19050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1" name="text 11"/>
          <p:cNvSpPr/>
          <p:nvPr/>
        </p:nvSpPr>
        <p:spPr>
          <a:xfrm>
            <a:off x="8260080" y="1798320"/>
            <a:ext cx="32537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Fixed configuration</a:t>
            </a:r>
            <a:endParaRPr sz="1980"/>
          </a:p>
        </p:txBody>
      </p:sp>
      <p:sp>
        <p:nvSpPr>
          <p:cNvPr id="12" name="text 12"/>
          <p:cNvSpPr/>
          <p:nvPr/>
        </p:nvSpPr>
        <p:spPr>
          <a:xfrm>
            <a:off x="8260080" y="2346960"/>
            <a:ext cx="3253740" cy="1097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Adam lr = 0.001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Batch size = 64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Weight decay = 0.0001</a:t>
            </a:r>
            <a:endParaRPr sz="1620"/>
          </a:p>
        </p:txBody>
      </p:sp>
      <p:sp>
        <p:nvSpPr>
          <p:cNvPr id="13" name="rect 13"/>
          <p:cNvSpPr/>
          <p:nvPr/>
        </p:nvSpPr>
        <p:spPr>
          <a:xfrm>
            <a:off x="8077200" y="3771900"/>
            <a:ext cx="3619500" cy="22098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4" name="rect 14"/>
          <p:cNvSpPr/>
          <p:nvPr/>
        </p:nvSpPr>
        <p:spPr>
          <a:xfrm>
            <a:off x="8077200" y="3771900"/>
            <a:ext cx="38100" cy="2209800"/>
          </a:xfrm>
          <a:prstGeom prst="rect">
            <a:avLst/>
          </a:prstGeom>
          <a:solidFill>
            <a:srgbClr val="9B2444"/>
          </a:solidFill>
          <a:ln>
            <a:noFill/>
          </a:ln>
        </p:spPr>
      </p:sp>
      <p:sp>
        <p:nvSpPr>
          <p:cNvPr id="15" name="text 15"/>
          <p:cNvSpPr/>
          <p:nvPr/>
        </p:nvSpPr>
        <p:spPr>
          <a:xfrm>
            <a:off x="8260080" y="3939540"/>
            <a:ext cx="32537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9B2444"/>
                </a:solidFill>
                <a:latin typeface="Microsoft YaHei"/>
                <a:ea typeface="Microsoft YaHei"/>
              </a:rPr>
              <a:t>Recorded run</a:t>
            </a:r>
            <a:endParaRPr sz="1980"/>
          </a:p>
        </p:txBody>
      </p:sp>
      <p:sp>
        <p:nvSpPr>
          <p:cNvPr id="16" name="text 16"/>
          <p:cNvSpPr/>
          <p:nvPr/>
        </p:nvSpPr>
        <p:spPr>
          <a:xfrm>
            <a:off x="8260080" y="4488180"/>
            <a:ext cx="3253740" cy="1402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Seed = 42; CPU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44 epochs executed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Best checkpoint: epoch 19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Early-stop patience = 25</a:t>
            </a:r>
            <a:endParaRPr sz="1620"/>
          </a:p>
        </p:txBody>
      </p:sp>
      <p:sp>
        <p:nvSpPr>
          <p:cNvPr id="17" name="text 17"/>
          <p:cNvSpPr/>
          <p:nvPr/>
        </p:nvSpPr>
        <p:spPr>
          <a:xfrm>
            <a:off x="495300" y="5981700"/>
            <a:ext cx="7543800" cy="297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solidFill>
                  <a:srgbClr val="566176"/>
                </a:solidFill>
                <a:latin typeface="Microsoft YaHei"/>
                <a:ea typeface="Microsoft YaHei"/>
              </a:rPr>
              <a:t>Save weights, per-epoch losses, preprocessing and split group IDs.</a:t>
            </a:r>
            <a:endParaRPr sz="1500"/>
          </a:p>
        </p:txBody>
      </p:sp>
      <p:sp>
        <p:nvSpPr>
          <p:cNvPr id="18" name="rect 18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19" name="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EVALUATION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Held-out results: useful, but still fallible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07 / 08</a:t>
            </a:r>
            <a:endParaRPr sz="1140"/>
          </a:p>
        </p:txBody>
      </p:sp>
      <p:pic>
        <p:nvPicPr>
          <p:cNvPr id="8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562100"/>
            <a:ext cx="5334000" cy="4343400"/>
          </a:xfrm>
          <a:prstGeom prst="rect">
            <a:avLst/>
          </a:prstGeom>
        </p:spPr>
      </p:pic>
      <p:sp>
        <p:nvSpPr>
          <p:cNvPr id="9" name="rect 9"/>
          <p:cNvSpPr/>
          <p:nvPr/>
        </p:nvSpPr>
        <p:spPr>
          <a:xfrm>
            <a:off x="6134100" y="1562100"/>
            <a:ext cx="5562600" cy="133350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6362700" y="1691640"/>
            <a:ext cx="5105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554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200">
                <a:solidFill>
                  <a:srgbClr val="282758"/>
                </a:solidFill>
                <a:latin typeface="Microsoft YaHei"/>
                <a:ea typeface="Microsoft YaHei"/>
              </a:rPr>
              <a:t>91.68%</a:t>
            </a:r>
            <a:endParaRPr sz="4200"/>
          </a:p>
        </p:txBody>
      </p:sp>
      <p:sp>
        <p:nvSpPr>
          <p:cNvPr id="11" name="text 11"/>
          <p:cNvSpPr/>
          <p:nvPr/>
        </p:nvSpPr>
        <p:spPr>
          <a:xfrm>
            <a:off x="6362700" y="245364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MLP test accuracy · 551 / 601 correct</a:t>
            </a:r>
            <a:endParaRPr sz="1620"/>
          </a:p>
        </p:txBody>
      </p:sp>
      <p:sp>
        <p:nvSpPr>
          <p:cNvPr id="12" name="text 12"/>
          <p:cNvSpPr/>
          <p:nvPr/>
        </p:nvSpPr>
        <p:spPr>
          <a:xfrm>
            <a:off x="6324600" y="3200400"/>
            <a:ext cx="5334000" cy="1394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Linear baseline      90.85%</a:t>
            </a:r>
            <a:endParaRPr sz="1800"/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Majority baseline   55.91%</a:t>
            </a:r>
            <a:endParaRPr sz="1800"/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SAT precision        91.51%</a:t>
            </a:r>
            <a:endParaRPr sz="1800"/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SAT recall              89.43%</a:t>
            </a:r>
            <a:endParaRPr sz="1800"/>
          </a:p>
        </p:txBody>
      </p:sp>
      <p:sp>
        <p:nvSpPr>
          <p:cNvPr id="13" name="text 13"/>
          <p:cNvSpPr/>
          <p:nvPr/>
        </p:nvSpPr>
        <p:spPr>
          <a:xfrm>
            <a:off x="6324600" y="4884420"/>
            <a:ext cx="5334000" cy="1203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9B2444"/>
                </a:solidFill>
                <a:latin typeface="Microsoft YaHei"/>
                <a:ea typeface="Microsoft YaHei"/>
              </a:rPr>
              <a:t>22 false SAT / 28 false UNSAT.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9B2444"/>
                </a:solidFill>
                <a:latin typeface="Microsoft YaHei"/>
                <a:ea typeface="Microsoft YaHei"/>
              </a:rPr>
              <a:t>Feature-distinct subset: 91.62% (597).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9B2444"/>
                </a:solidFill>
                <a:latin typeface="Microsoft YaHei"/>
                <a:ea typeface="Microsoft YaHei"/>
              </a:rPr>
              <a:t>One split; no significance claim.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9B2444"/>
                </a:solidFill>
                <a:latin typeface="Microsoft YaHei"/>
                <a:ea typeface="Microsoft YaHei"/>
              </a:rPr>
              <a:t>Exact solving is still the verifier.</a:t>
            </a:r>
            <a:endParaRPr sz="1620"/>
          </a:p>
        </p:txBody>
      </p:sp>
      <p:sp>
        <p:nvSpPr>
          <p:cNvPr id="14" name="rect 14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15" name="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495300" y="228600"/>
            <a:ext cx="99060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CA6000 / SAT STUDY  /  AI PROGRAMMING  /  DELIVERY &amp; REFLECTION</a:t>
            </a:r>
            <a:endParaRPr sz="1140"/>
          </a:p>
        </p:txBody>
      </p:sp>
      <p:sp>
        <p:nvSpPr>
          <p:cNvPr id="4" name="text 4"/>
          <p:cNvSpPr/>
          <p:nvPr/>
        </p:nvSpPr>
        <p:spPr>
          <a:xfrm>
            <a:off x="495300" y="6858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>
                <a:solidFill>
                  <a:srgbClr val="20233D"/>
                </a:solidFill>
                <a:latin typeface="Microsoft YaHei"/>
                <a:ea typeface="Microsoft YaHei"/>
              </a:rPr>
              <a:t>What was built, and what was learned</a:t>
            </a:r>
            <a:endParaRPr sz="3120"/>
          </a:p>
        </p:txBody>
      </p:sp>
      <p:sp>
        <p:nvSpPr>
          <p:cNvPr id="5" name="rect 5"/>
          <p:cNvSpPr/>
          <p:nvPr/>
        </p:nvSpPr>
        <p:spPr>
          <a:xfrm>
            <a:off x="1866900" y="6400800"/>
            <a:ext cx="9829800" cy="7620"/>
          </a:xfrm>
          <a:prstGeom prst="rect">
            <a:avLst/>
          </a:prstGeom>
          <a:solidFill>
            <a:srgbClr val="D5DAE5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1866900" y="6598920"/>
            <a:ext cx="8686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>
                <a:solidFill>
                  <a:srgbClr val="566176"/>
                </a:solidFill>
                <a:latin typeface="Microsoft YaHei"/>
                <a:ea typeface="Microsoft YaHei"/>
              </a:rPr>
              <a:t>CA6000 | Boolean Satisfiability Prediction | Coursework</a:t>
            </a:r>
            <a:endParaRPr sz="1080"/>
          </a:p>
        </p:txBody>
      </p:sp>
      <p:sp>
        <p:nvSpPr>
          <p:cNvPr id="7" name="text 7"/>
          <p:cNvSpPr/>
          <p:nvPr/>
        </p:nvSpPr>
        <p:spPr>
          <a:xfrm>
            <a:off x="11125200" y="658368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>
                <a:solidFill>
                  <a:srgbClr val="282758"/>
                </a:solidFill>
                <a:latin typeface="Microsoft YaHei"/>
                <a:ea typeface="Microsoft YaHei"/>
              </a:rPr>
              <a:t>08 / 08</a:t>
            </a:r>
            <a:endParaRPr sz="1140"/>
          </a:p>
        </p:txBody>
      </p:sp>
      <p:sp>
        <p:nvSpPr>
          <p:cNvPr id="8" name="rect 8"/>
          <p:cNvSpPr/>
          <p:nvPr/>
        </p:nvSpPr>
        <p:spPr>
          <a:xfrm>
            <a:off x="495300" y="1562100"/>
            <a:ext cx="5486400" cy="284226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95300" y="1562100"/>
            <a:ext cx="38100" cy="284226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678180" y="1729740"/>
            <a:ext cx="51206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282758"/>
                </a:solidFill>
                <a:latin typeface="Microsoft YaHei"/>
                <a:ea typeface="Microsoft YaHei"/>
              </a:rPr>
              <a:t>Reproducible deliverables</a:t>
            </a:r>
            <a:endParaRPr sz="1980"/>
          </a:p>
        </p:txBody>
      </p:sp>
      <p:sp>
        <p:nvSpPr>
          <p:cNvPr id="11" name="text 11"/>
          <p:cNvSpPr/>
          <p:nvPr/>
        </p:nvSpPr>
        <p:spPr>
          <a:xfrm>
            <a:off x="678180" y="2278380"/>
            <a:ext cx="5120640" cy="2034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Generator + immutable dataset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Pandas cleaning + EDA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PyTorch training + saved inference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Interactive prediction / exact check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Report, English slides and tests</a:t>
            </a:r>
            <a:endParaRPr sz="1620"/>
          </a:p>
        </p:txBody>
      </p:sp>
      <p:sp>
        <p:nvSpPr>
          <p:cNvPr id="12" name="rect 12"/>
          <p:cNvSpPr/>
          <p:nvPr/>
        </p:nvSpPr>
        <p:spPr>
          <a:xfrm>
            <a:off x="6210300" y="1562100"/>
            <a:ext cx="5486400" cy="2842260"/>
          </a:xfrm>
          <a:prstGeom prst="rect">
            <a:avLst/>
          </a:prstGeom>
          <a:solidFill>
            <a:srgbClr val="F2F4F8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6210300" y="1562100"/>
            <a:ext cx="38100" cy="2842260"/>
          </a:xfrm>
          <a:prstGeom prst="rect">
            <a:avLst/>
          </a:prstGeom>
          <a:solidFill>
            <a:srgbClr val="9B2444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6393180" y="1729740"/>
            <a:ext cx="512064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6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80">
                <a:solidFill>
                  <a:srgbClr val="9B2444"/>
                </a:solidFill>
                <a:latin typeface="Microsoft YaHei"/>
                <a:ea typeface="Microsoft YaHei"/>
              </a:rPr>
              <a:t>AI assistance and limits</a:t>
            </a:r>
            <a:endParaRPr sz="1980"/>
          </a:p>
        </p:txBody>
      </p:sp>
      <p:sp>
        <p:nvSpPr>
          <p:cNvPr id="15" name="text 15"/>
          <p:cNvSpPr/>
          <p:nvPr/>
        </p:nvSpPr>
        <p:spPr>
          <a:xfrm>
            <a:off x="6393180" y="2278380"/>
            <a:ext cx="5120640" cy="20345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Codex helped draft and debug code,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tests, plots and documentation.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/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Small synthetic distribution; lossy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features; no solver replacement</a:t>
            </a:r>
            <a:endParaRPr sz="1620"/>
          </a:p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>
                <a:solidFill>
                  <a:srgbClr val="20233D"/>
                </a:solidFill>
                <a:latin typeface="Microsoft YaHei"/>
                <a:ea typeface="Microsoft YaHei"/>
              </a:rPr>
              <a:t>or quantum-advantage claim.</a:t>
            </a:r>
            <a:endParaRPr sz="1620"/>
          </a:p>
        </p:txBody>
      </p:sp>
      <p:sp>
        <p:nvSpPr>
          <p:cNvPr id="16" name="text 16"/>
          <p:cNvSpPr/>
          <p:nvPr/>
        </p:nvSpPr>
        <p:spPr>
          <a:xfrm>
            <a:off x="495300" y="48006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>
                <a:solidFill>
                  <a:srgbClr val="282758"/>
                </a:solidFill>
                <a:latin typeface="Consolas"/>
                <a:ea typeface="Microsoft YaHei"/>
              </a:rPr>
              <a:t>bash scripts/run_sat_app.sh</a:t>
            </a:r>
            <a:endParaRPr sz="2400"/>
          </a:p>
        </p:txBody>
      </p:sp>
      <p:sp>
        <p:nvSpPr>
          <p:cNvPr id="17" name="text 17"/>
          <p:cNvSpPr/>
          <p:nvPr/>
        </p:nvSpPr>
        <p:spPr>
          <a:xfrm>
            <a:off x="495300" y="5471160"/>
            <a:ext cx="11201400" cy="617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Demo: http://127.0.0.1:8766</a:t>
            </a:r>
            <a:endParaRPr sz="1800"/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>
                <a:solidFill>
                  <a:srgbClr val="20233D"/>
                </a:solidFill>
                <a:latin typeface="Microsoft YaHei"/>
                <a:ea typeface="Microsoft YaHei"/>
              </a:rPr>
              <a:t>A trained neural prediction is checked against exact classical behavior.</a:t>
            </a:r>
            <a:endParaRPr sz="1800"/>
          </a:p>
        </p:txBody>
      </p:sp>
      <p:sp>
        <p:nvSpPr>
          <p:cNvPr id="18" name="rect 18"/>
          <p:cNvSpPr/>
          <p:nvPr/>
        </p:nvSpPr>
        <p:spPr>
          <a:xfrm>
            <a:off x="495300" y="6286500"/>
            <a:ext cx="1219200" cy="495300"/>
          </a:xfrm>
          <a:prstGeom prst="rect">
            <a:avLst/>
          </a:prstGeom>
          <a:solidFill>
            <a:srgbClr val="282758"/>
          </a:solidFill>
          <a:ln>
            <a:noFill/>
          </a:ln>
        </p:spPr>
      </p:sp>
      <p:pic>
        <p:nvPicPr>
          <p:cNvPr id="19" name="Dem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09360"/>
            <a:ext cx="1066800" cy="449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Refactor">
  <a:themeElements>
    <a:clrScheme name="QRefactor">
      <a:dk1>
        <a:srgbClr val="0C1425"/>
      </a:dk1>
      <a:lt1>
        <a:srgbClr val="F1F6FF"/>
      </a:lt1>
      <a:dk2>
        <a:srgbClr val="18263C"/>
      </a:dk2>
      <a:lt2>
        <a:srgbClr val="A8B7CD"/>
      </a:lt2>
      <a:accent1>
        <a:srgbClr val="54E0C0"/>
      </a:accent1>
      <a:accent2>
        <a:srgbClr val="FFC878"/>
      </a:accent2>
      <a:accent3>
        <a:srgbClr val="77A7FF"/>
      </a:accent3>
      <a:accent4>
        <a:srgbClr val="C7A0FF"/>
      </a:accent4>
      <a:accent5>
        <a:srgbClr val="FF9EAA"/>
      </a:accent5>
      <a:accent6>
        <a:srgbClr val="FFFFFF"/>
      </a:accent6>
      <a:hlink>
        <a:srgbClr val="54E0C0"/>
      </a:hlink>
      <a:folHlink>
        <a:srgbClr val="FFC878"/>
      </a:folHlink>
    </a:clrScheme>
    <a:fontScheme name="Chines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